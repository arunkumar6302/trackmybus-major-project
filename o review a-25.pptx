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67" r:id="rId4"/>
    <p:sldId id="259" r:id="rId5"/>
    <p:sldId id="260" r:id="rId6"/>
    <p:sldId id="261" r:id="rId7"/>
    <p:sldId id="268" r:id="rId8"/>
    <p:sldId id="263" r:id="rId9"/>
    <p:sldId id="264" r:id="rId10"/>
    <p:sldId id="265" r:id="rId11"/>
    <p:sldId id="266"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3F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370" y="1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7203DB1-22C9-4328-8E0B-13A98EA180CE}" type="datetimeFigureOut">
              <a:rPr lang="en-IN" smtClean="0"/>
              <a:t>19-12-2025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43C257F-7C75-44DD-AC1C-7150640DC7DB}" type="slidenum">
              <a:rPr lang="en-IN" smtClean="0"/>
              <a:t>‹#›</a:t>
            </a:fld>
            <a:endParaRPr lang="en-IN"/>
          </a:p>
        </p:txBody>
      </p:sp>
    </p:spTree>
    <p:extLst>
      <p:ext uri="{BB962C8B-B14F-4D97-AF65-F5344CB8AC3E}">
        <p14:creationId xmlns:p14="http://schemas.microsoft.com/office/powerpoint/2010/main" val="1379966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5B66991-F725-422B-A7F0-F43E86186675}" type="slidenum">
              <a:rPr lang="en-IN" smtClean="0"/>
              <a:t>7</a:t>
            </a:fld>
            <a:endParaRPr lang="en-IN"/>
          </a:p>
        </p:txBody>
      </p:sp>
    </p:spTree>
    <p:extLst>
      <p:ext uri="{BB962C8B-B14F-4D97-AF65-F5344CB8AC3E}">
        <p14:creationId xmlns:p14="http://schemas.microsoft.com/office/powerpoint/2010/main" val="754176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60"/>
            <a:chOff x="777240" y="6634440"/>
            <a:chExt cx="11414760" cy="22356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r>
                <a:rPr lang="en-US" sz="1600" cap="small" spc="-75" dirty="0">
                  <a:solidFill>
                    <a:srgbClr val="FFF3F3"/>
                  </a:solidFill>
                  <a:latin typeface="Times New Roman" panose="02020603050405020304" pitchFamily="18" charset="0"/>
                  <a:cs typeface="Times New Roman" panose="02020603050405020304" pitchFamily="18" charset="0"/>
                </a:rPr>
                <a:t>           Dept.</a:t>
              </a:r>
              <a:r>
                <a:rPr lang="en-US" sz="1600" cap="small" spc="-10" dirty="0">
                  <a:solidFill>
                    <a:srgbClr val="FFF3F3"/>
                  </a:solidFill>
                  <a:latin typeface="Times New Roman" panose="02020603050405020304" pitchFamily="18" charset="0"/>
                  <a:cs typeface="Times New Roman" panose="02020603050405020304" pitchFamily="18" charset="0"/>
                </a:rPr>
                <a:t> </a:t>
              </a:r>
              <a:r>
                <a:rPr lang="en-US" sz="1600" cap="small" spc="-100" dirty="0">
                  <a:solidFill>
                    <a:srgbClr val="FFF3F3"/>
                  </a:solidFill>
                  <a:latin typeface="Times New Roman" panose="02020603050405020304" pitchFamily="18" charset="0"/>
                  <a:cs typeface="Times New Roman" panose="02020603050405020304" pitchFamily="18" charset="0"/>
                </a:rPr>
                <a:t>of</a:t>
              </a:r>
              <a:r>
                <a:rPr lang="en-US" sz="1600" cap="small" spc="50" dirty="0">
                  <a:solidFill>
                    <a:srgbClr val="FFF3F3"/>
                  </a:solidFill>
                  <a:latin typeface="Times New Roman" panose="02020603050405020304" pitchFamily="18" charset="0"/>
                  <a:cs typeface="Times New Roman" panose="02020603050405020304" pitchFamily="18" charset="0"/>
                </a:rPr>
                <a:t> </a:t>
              </a:r>
              <a:r>
                <a:rPr lang="en-US" sz="1600" cap="small" spc="-114" dirty="0">
                  <a:solidFill>
                    <a:srgbClr val="FFF3F3"/>
                  </a:solidFill>
                  <a:latin typeface="Times New Roman" panose="02020603050405020304" pitchFamily="18" charset="0"/>
                  <a:cs typeface="Times New Roman" panose="02020603050405020304" pitchFamily="18" charset="0"/>
                </a:rPr>
                <a:t>Computer</a:t>
              </a:r>
              <a:r>
                <a:rPr lang="en-US" sz="1600" cap="small" spc="60" dirty="0">
                  <a:solidFill>
                    <a:srgbClr val="FFF3F3"/>
                  </a:solidFill>
                  <a:latin typeface="Times New Roman" panose="02020603050405020304" pitchFamily="18" charset="0"/>
                  <a:cs typeface="Times New Roman" panose="02020603050405020304" pitchFamily="18" charset="0"/>
                </a:rPr>
                <a:t> </a:t>
              </a:r>
              <a:r>
                <a:rPr lang="en-US" sz="1600" cap="small" spc="-95" dirty="0">
                  <a:solidFill>
                    <a:srgbClr val="FFF3F3"/>
                  </a:solidFill>
                  <a:latin typeface="Times New Roman" panose="02020603050405020304" pitchFamily="18" charset="0"/>
                  <a:cs typeface="Times New Roman" panose="02020603050405020304" pitchFamily="18" charset="0"/>
                </a:rPr>
                <a:t>Science</a:t>
              </a:r>
              <a:r>
                <a:rPr lang="en-US" sz="1600" cap="small" spc="55" dirty="0">
                  <a:solidFill>
                    <a:srgbClr val="FFF3F3"/>
                  </a:solidFill>
                  <a:latin typeface="Times New Roman" panose="02020603050405020304" pitchFamily="18" charset="0"/>
                  <a:cs typeface="Times New Roman" panose="02020603050405020304" pitchFamily="18" charset="0"/>
                </a:rPr>
                <a:t> </a:t>
              </a:r>
              <a:r>
                <a:rPr lang="en-US" sz="1600" cap="small" spc="-130" dirty="0">
                  <a:solidFill>
                    <a:srgbClr val="FFF3F3"/>
                  </a:solidFill>
                  <a:latin typeface="Times New Roman" panose="02020603050405020304" pitchFamily="18" charset="0"/>
                  <a:cs typeface="Times New Roman" panose="02020603050405020304" pitchFamily="18" charset="0"/>
                </a:rPr>
                <a:t>and Engineering</a:t>
              </a:r>
              <a:r>
                <a:rPr lang="en-US" sz="1600" cap="small" spc="55" dirty="0">
                  <a:solidFill>
                    <a:srgbClr val="FFF3F3"/>
                  </a:solidFill>
                  <a:latin typeface="Times New Roman" panose="02020603050405020304" pitchFamily="18" charset="0"/>
                  <a:cs typeface="Times New Roman" panose="02020603050405020304" pitchFamily="18" charset="0"/>
                </a:rPr>
                <a:t> </a:t>
              </a:r>
              <a:endParaRPr lang="en-US" sz="1600" cap="small" spc="-130" dirty="0">
                <a:solidFill>
                  <a:srgbClr val="FFF3F3"/>
                </a:solidFill>
                <a:latin typeface="Times New Roman" panose="02020603050405020304" pitchFamily="18" charset="0"/>
                <a:cs typeface="Times New Roman" panose="02020603050405020304" pitchFamily="18" charset="0"/>
              </a:endParaRPr>
            </a:p>
            <a:p>
              <a:r>
                <a:rPr lang="en-IN" dirty="0"/>
                <a:t> </a:t>
              </a:r>
              <a:endParaRPr dirty="0"/>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r>
                <a:rPr lang="en-IN" sz="1800" cap="small" spc="-105" dirty="0">
                  <a:solidFill>
                    <a:srgbClr val="FFFFFF"/>
                  </a:solidFill>
                  <a:latin typeface="Times New Roman"/>
                  <a:cs typeface="Times New Roman"/>
                </a:rPr>
                <a:t>         </a:t>
              </a:r>
              <a:r>
                <a:rPr lang="en-US" sz="1600" cap="small" spc="-105" dirty="0">
                  <a:solidFill>
                    <a:srgbClr val="FFFFFF"/>
                  </a:solidFill>
                  <a:latin typeface="Times New Roman"/>
                  <a:cs typeface="Times New Roman"/>
                </a:rPr>
                <a:t>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 Technology</a:t>
              </a:r>
              <a:endParaRPr lang="en-US" sz="1600" dirty="0">
                <a:latin typeface="Times New Roman"/>
                <a:cs typeface="Times New Roman"/>
              </a:endParaRPr>
            </a:p>
            <a:p>
              <a:endParaRPr dirty="0"/>
            </a:p>
          </p:txBody>
        </p:sp>
        <p:sp>
          <p:nvSpPr>
            <p:cNvPr id="5" name="object 5"/>
            <p:cNvSpPr/>
            <p:nvPr/>
          </p:nvSpPr>
          <p:spPr>
            <a:xfrm>
              <a:off x="11754485" y="6637021"/>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r>
                <a:rPr lang="en-IN" dirty="0"/>
                <a:t>  </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1</a:t>
              </a:r>
              <a:endParaRPr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r>
              <a:rPr lang="en-IN" sz="1400" dirty="0">
                <a:latin typeface="Times New Roman" panose="02020603050405020304" pitchFamily="18" charset="0"/>
                <a:cs typeface="Times New Roman" panose="02020603050405020304" pitchFamily="18" charset="0"/>
              </a:rPr>
              <a:t>    </a:t>
            </a:r>
            <a:r>
              <a:rPr lang="en-IN" sz="1600" dirty="0">
                <a:solidFill>
                  <a:srgbClr val="FFFFFF"/>
                </a:solidFill>
                <a:latin typeface="Times New Roman" panose="02020603050405020304" pitchFamily="18" charset="0"/>
                <a:cs typeface="Times New Roman" panose="02020603050405020304" pitchFamily="18" charset="0"/>
              </a:rPr>
              <a:t>A-25</a:t>
            </a:r>
            <a:endParaRPr sz="1600" dirty="0">
              <a:solidFill>
                <a:srgbClr val="FFFFFF"/>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5181601" y="1735293"/>
            <a:ext cx="2362200" cy="415627"/>
          </a:xfrm>
          <a:prstGeom prst="rect">
            <a:avLst/>
          </a:prstGeom>
        </p:spPr>
        <p:txBody>
          <a:bodyPr vert="horz" wrap="square" lIns="0" tIns="13335" rIns="0" bIns="0" rtlCol="0">
            <a:spAutoFit/>
          </a:bodyPr>
          <a:lstStyle/>
          <a:p>
            <a:pPr algn="ctr">
              <a:lnSpc>
                <a:spcPts val="2080"/>
              </a:lnSpc>
              <a:spcBef>
                <a:spcPts val="105"/>
              </a:spcBef>
            </a:pPr>
            <a:r>
              <a:rPr lang="en-IN" spc="-10" dirty="0" err="1">
                <a:latin typeface="Times New Roman"/>
                <a:cs typeface="Times New Roman"/>
              </a:rPr>
              <a:t>P.Md.MANSOOR</a:t>
            </a:r>
            <a:endParaRPr lang="en-IN" sz="175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224G1A0545</a:t>
            </a:r>
            <a:endParaRPr sz="900" dirty="0">
              <a:latin typeface="Times New Roman"/>
              <a:cs typeface="Times New Roman"/>
            </a:endParaRPr>
          </a:p>
        </p:txBody>
      </p:sp>
      <p:sp>
        <p:nvSpPr>
          <p:cNvPr id="9" name="object 9"/>
          <p:cNvSpPr txBox="1"/>
          <p:nvPr/>
        </p:nvSpPr>
        <p:spPr>
          <a:xfrm>
            <a:off x="3733800" y="2476799"/>
            <a:ext cx="4724400" cy="1320874"/>
          </a:xfrm>
          <a:prstGeom prst="rect">
            <a:avLst/>
          </a:prstGeom>
        </p:spPr>
        <p:txBody>
          <a:bodyPr vert="horz" wrap="square" lIns="0" tIns="12700" rIns="0" bIns="0" rtlCol="0">
            <a:spAutoFit/>
          </a:bodyPr>
          <a:lstStyle/>
          <a:p>
            <a:pPr marL="635" algn="ctr">
              <a:lnSpc>
                <a:spcPts val="1630"/>
              </a:lnSpc>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sz="1400" dirty="0">
              <a:latin typeface="Times New Roman"/>
              <a:cs typeface="Times New Roman"/>
            </a:endParaRPr>
          </a:p>
          <a:p>
            <a:pPr marL="12065" marR="5080" algn="ctr">
              <a:lnSpc>
                <a:spcPts val="2790"/>
              </a:lnSpc>
              <a:spcBef>
                <a:spcPts val="114"/>
              </a:spcBef>
            </a:pPr>
            <a:r>
              <a:rPr lang="en-IN" sz="2400" spc="-10" dirty="0">
                <a:latin typeface="Times New Roman"/>
                <a:cs typeface="Times New Roman"/>
              </a:rPr>
              <a:t>Dr. S. Ravi Kumar</a:t>
            </a:r>
            <a:r>
              <a:rPr lang="en-IN" sz="1400" spc="-10" dirty="0">
                <a:latin typeface="Times New Roman"/>
                <a:cs typeface="Times New Roman"/>
              </a:rPr>
              <a:t> Ph.D.</a:t>
            </a:r>
            <a:r>
              <a:rPr sz="1400" spc="-10" dirty="0">
                <a:latin typeface="Times New Roman"/>
                <a:cs typeface="Times New Roman"/>
              </a:rPr>
              <a:t> </a:t>
            </a:r>
            <a:endParaRPr lang="en-IN" sz="1400" spc="-10" dirty="0">
              <a:latin typeface="Times New Roman"/>
              <a:cs typeface="Times New Roman"/>
            </a:endParaRPr>
          </a:p>
          <a:p>
            <a:pPr marL="12065" marR="5080" algn="ctr">
              <a:lnSpc>
                <a:spcPts val="2790"/>
              </a:lnSpc>
              <a:spcBef>
                <a:spcPts val="114"/>
              </a:spcBef>
            </a:pPr>
            <a:r>
              <a:rPr lang="en-IN" sz="1400" spc="-20" dirty="0">
                <a:latin typeface="Times New Roman"/>
                <a:cs typeface="Times New Roman"/>
              </a:rPr>
              <a:t>Associate</a:t>
            </a:r>
            <a:r>
              <a:rPr lang="en-IN" sz="1400" spc="-40" dirty="0">
                <a:latin typeface="Times New Roman"/>
                <a:cs typeface="Times New Roman"/>
              </a:rPr>
              <a:t> </a:t>
            </a:r>
            <a:r>
              <a:rPr lang="en-IN" sz="1400" spc="-10" dirty="0">
                <a:latin typeface="Times New Roman"/>
                <a:cs typeface="Times New Roman"/>
              </a:rPr>
              <a:t>Professor</a:t>
            </a:r>
            <a:endParaRPr lang="en-IN" sz="1400" dirty="0">
              <a:latin typeface="Times New Roman"/>
              <a:cs typeface="Times New Roman"/>
            </a:endParaRPr>
          </a:p>
          <a:p>
            <a:pPr marL="12065" marR="5080" algn="ctr">
              <a:lnSpc>
                <a:spcPts val="2790"/>
              </a:lnSpc>
              <a:spcBef>
                <a:spcPts val="114"/>
              </a:spcBef>
            </a:pPr>
            <a:endParaRPr sz="24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r>
              <a:rPr sz="2200" spc="-15" dirty="0">
                <a:latin typeface="Times New Roman"/>
                <a:cs typeface="Times New Roman"/>
              </a:rPr>
              <a:t> </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IN" sz="1300" b="1" dirty="0">
                <a:solidFill>
                  <a:srgbClr val="1E4E78"/>
                </a:solidFill>
                <a:latin typeface="Times New Roman"/>
                <a:cs typeface="Times New Roman"/>
              </a:rPr>
              <a:t>5-</a:t>
            </a:r>
            <a:r>
              <a:rPr sz="1300" b="1" spc="-20" dirty="0">
                <a:solidFill>
                  <a:srgbClr val="1E4E78"/>
                </a:solidFill>
                <a:latin typeface="Times New Roman"/>
                <a:cs typeface="Times New Roman"/>
              </a:rPr>
              <a:t>202</a:t>
            </a:r>
            <a:r>
              <a:rPr lang="en-IN" sz="1300" b="1" spc="-20" dirty="0">
                <a:solidFill>
                  <a:srgbClr val="1E4E78"/>
                </a:solidFill>
                <a:latin typeface="Times New Roman"/>
                <a:cs typeface="Times New Roman"/>
              </a:rPr>
              <a:t>6</a:t>
            </a:r>
            <a:endParaRPr sz="1300" dirty="0">
              <a:latin typeface="Times New Roman"/>
              <a:cs typeface="Times New Roman"/>
            </a:endParaRPr>
          </a:p>
        </p:txBody>
      </p:sp>
      <p:sp>
        <p:nvSpPr>
          <p:cNvPr id="11" name="object 11"/>
          <p:cNvSpPr txBox="1"/>
          <p:nvPr/>
        </p:nvSpPr>
        <p:spPr>
          <a:xfrm>
            <a:off x="1905000" y="1724463"/>
            <a:ext cx="3276600" cy="455381"/>
          </a:xfrm>
          <a:prstGeom prst="rect">
            <a:avLst/>
          </a:prstGeom>
        </p:spPr>
        <p:txBody>
          <a:bodyPr vert="horz" wrap="square" lIns="0" tIns="14605" rIns="0" bIns="0" rtlCol="0">
            <a:spAutoFit/>
          </a:bodyPr>
          <a:lstStyle/>
          <a:p>
            <a:pPr algn="ctr">
              <a:lnSpc>
                <a:spcPts val="2380"/>
              </a:lnSpc>
              <a:spcBef>
                <a:spcPts val="115"/>
              </a:spcBef>
            </a:pPr>
            <a:r>
              <a:rPr lang="en-IN" sz="2000" dirty="0">
                <a:latin typeface="Times New Roman"/>
                <a:cs typeface="Times New Roman"/>
              </a:rPr>
              <a:t>R.ARUN KUMAR NAIK</a:t>
            </a:r>
            <a:endParaRPr sz="2000" dirty="0">
              <a:latin typeface="Times New Roman"/>
              <a:cs typeface="Times New Roman"/>
            </a:endParaRPr>
          </a:p>
          <a:p>
            <a:pPr marL="1270" algn="ctr">
              <a:lnSpc>
                <a:spcPts val="1060"/>
              </a:lnSpc>
            </a:pPr>
            <a:r>
              <a:rPr sz="900" dirty="0">
                <a:latin typeface="Times New Roman"/>
                <a:cs typeface="Times New Roman"/>
              </a:rPr>
              <a:t>Roll</a:t>
            </a:r>
            <a:r>
              <a:rPr sz="900" spc="40" dirty="0">
                <a:latin typeface="Times New Roman"/>
                <a:cs typeface="Times New Roman"/>
              </a:rPr>
              <a:t> </a:t>
            </a:r>
            <a:r>
              <a:rPr sz="900" dirty="0">
                <a:latin typeface="Times New Roman"/>
                <a:cs typeface="Times New Roman"/>
              </a:rPr>
              <a:t>No.</a:t>
            </a:r>
            <a:r>
              <a:rPr sz="900" spc="40" dirty="0">
                <a:latin typeface="Times New Roman"/>
                <a:cs typeface="Times New Roman"/>
              </a:rPr>
              <a:t> </a:t>
            </a:r>
            <a:r>
              <a:rPr lang="en-IN" sz="900" spc="-10" dirty="0">
                <a:latin typeface="Times New Roman"/>
                <a:cs typeface="Times New Roman"/>
              </a:rPr>
              <a:t>224G1A0507</a:t>
            </a:r>
            <a:endParaRPr sz="900" dirty="0">
              <a:latin typeface="Times New Roman"/>
              <a:cs typeface="Times New Roman"/>
            </a:endParaRPr>
          </a:p>
        </p:txBody>
      </p:sp>
      <p:sp>
        <p:nvSpPr>
          <p:cNvPr id="12" name="object 12"/>
          <p:cNvSpPr txBox="1"/>
          <p:nvPr/>
        </p:nvSpPr>
        <p:spPr>
          <a:xfrm>
            <a:off x="7467599" y="1735293"/>
            <a:ext cx="2819401" cy="431528"/>
          </a:xfrm>
          <a:prstGeom prst="rect">
            <a:avLst/>
          </a:prstGeom>
        </p:spPr>
        <p:txBody>
          <a:bodyPr vert="horz" wrap="square" lIns="0" tIns="13335" rIns="0" bIns="0" rtlCol="0">
            <a:spAutoFit/>
          </a:bodyPr>
          <a:lstStyle/>
          <a:p>
            <a:pPr marL="42545">
              <a:lnSpc>
                <a:spcPct val="100000"/>
              </a:lnSpc>
              <a:spcBef>
                <a:spcPts val="409"/>
              </a:spcBef>
            </a:pPr>
            <a:r>
              <a:rPr lang="en-IN" sz="1800" spc="-10" dirty="0">
                <a:latin typeface="Times New Roman"/>
                <a:cs typeface="Times New Roman"/>
              </a:rPr>
              <a:t>            G.SRAVANI</a:t>
            </a:r>
            <a:endParaRPr lang="en-IN" sz="180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234G5A05A3</a:t>
            </a:r>
            <a:endParaRPr sz="900" dirty="0">
              <a:latin typeface="Times New Roman"/>
              <a:cs typeface="Times New Roman"/>
            </a:endParaRPr>
          </a:p>
        </p:txBody>
      </p:sp>
      <p:grpSp>
        <p:nvGrpSpPr>
          <p:cNvPr id="14" name="object 14"/>
          <p:cNvGrpSpPr/>
          <p:nvPr/>
        </p:nvGrpSpPr>
        <p:grpSpPr>
          <a:xfrm>
            <a:off x="683265" y="32093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1447800" y="491407"/>
            <a:ext cx="9677400" cy="382156"/>
          </a:xfrm>
          <a:prstGeom prst="rect">
            <a:avLst/>
          </a:prstGeom>
        </p:spPr>
        <p:txBody>
          <a:bodyPr vert="horz" wrap="square" lIns="0" tIns="12700" rIns="0" bIns="0" rtlCol="0">
            <a:spAutoFit/>
          </a:bodyPr>
          <a:lstStyle/>
          <a:p>
            <a:pPr marL="12700">
              <a:lnSpc>
                <a:spcPct val="100000"/>
              </a:lnSpc>
              <a:spcBef>
                <a:spcPts val="100"/>
              </a:spcBef>
            </a:pPr>
            <a:r>
              <a:rPr lang="en-US" sz="2400" dirty="0"/>
              <a:t>Smart College Bus Tracking System Using Hybrid GPS and AI Chatbot</a:t>
            </a:r>
            <a:endParaRPr sz="2400" dirty="0"/>
          </a:p>
        </p:txBody>
      </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p:cNvPicPr/>
          <p:nvPr/>
        </p:nvPicPr>
        <p:blipFill>
          <a:blip r:embed="rId3" cstate="print"/>
          <a:stretch>
            <a:fillRect/>
          </a:stretch>
        </p:blipFill>
        <p:spPr>
          <a:xfrm>
            <a:off x="5329143" y="3408075"/>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62200" y="0"/>
            <a:ext cx="64770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College Bus Tracking System Using Hybrid GPS and AI Chatbot</a:t>
            </a:r>
            <a:endParaRPr sz="1500" dirty="0">
              <a:latin typeface="Times New Roman"/>
              <a:cs typeface="Times New Roman"/>
            </a:endParaRPr>
          </a:p>
        </p:txBody>
      </p:sp>
      <p:grpSp>
        <p:nvGrpSpPr>
          <p:cNvPr id="3" name="object 3"/>
          <p:cNvGrpSpPr/>
          <p:nvPr/>
        </p:nvGrpSpPr>
        <p:grpSpPr>
          <a:xfrm>
            <a:off x="0" y="215186"/>
            <a:ext cx="12192000" cy="803275"/>
            <a:chOff x="0" y="212399"/>
            <a:chExt cx="12192000" cy="803275"/>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IN" spc="-25" dirty="0"/>
              <a:t>25</a:t>
            </a:r>
            <a:endParaRPr spc="-25" dirty="0"/>
          </a:p>
        </p:txBody>
      </p:sp>
      <p:sp>
        <p:nvSpPr>
          <p:cNvPr id="9" name="object 9"/>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7" y="989990"/>
            <a:ext cx="9460230" cy="4625340"/>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2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25" dirty="0">
                <a:latin typeface="Times New Roman"/>
                <a:cs typeface="Times New Roman"/>
              </a:rPr>
              <a:t> </a:t>
            </a:r>
            <a:r>
              <a:rPr sz="2800" dirty="0">
                <a:latin typeface="Times New Roman"/>
                <a:cs typeface="Times New Roman"/>
              </a:rPr>
              <a:t>Work</a:t>
            </a:r>
            <a:r>
              <a:rPr sz="2800" spc="-20" dirty="0">
                <a:latin typeface="Times New Roman"/>
                <a:cs typeface="Times New Roman"/>
              </a:rPr>
              <a:t> </a:t>
            </a:r>
            <a:r>
              <a:rPr sz="2800" spc="-10" dirty="0">
                <a:latin typeface="Times New Roman"/>
                <a:cs typeface="Times New Roman"/>
              </a:rPr>
              <a:t>-</a:t>
            </a:r>
            <a:r>
              <a:rPr sz="2800" dirty="0">
                <a:latin typeface="Times New Roman"/>
                <a:cs typeface="Times New Roman"/>
              </a:rPr>
              <a:t>(Methods</a:t>
            </a:r>
            <a:r>
              <a:rPr sz="2800" spc="-25" dirty="0">
                <a:latin typeface="Times New Roman"/>
                <a:cs typeface="Times New Roman"/>
              </a:rPr>
              <a:t> </a:t>
            </a:r>
            <a:r>
              <a:rPr sz="2800" dirty="0">
                <a:latin typeface="Times New Roman"/>
                <a:cs typeface="Times New Roman"/>
              </a:rPr>
              <a:t>to</a:t>
            </a:r>
            <a:r>
              <a:rPr sz="2800" spc="-25" dirty="0">
                <a:latin typeface="Times New Roman"/>
                <a:cs typeface="Times New Roman"/>
              </a:rPr>
              <a:t> </a:t>
            </a:r>
            <a:r>
              <a:rPr sz="2800" dirty="0">
                <a:latin typeface="Times New Roman"/>
                <a:cs typeface="Times New Roman"/>
              </a:rPr>
              <a:t>be</a:t>
            </a:r>
            <a:r>
              <a:rPr sz="2800" spc="-25" dirty="0">
                <a:latin typeface="Times New Roman"/>
                <a:cs typeface="Times New Roman"/>
              </a:rPr>
              <a:t> </a:t>
            </a:r>
            <a:r>
              <a:rPr sz="2800" dirty="0">
                <a:latin typeface="Times New Roman"/>
                <a:cs typeface="Times New Roman"/>
              </a:rPr>
              <a:t>followed</a:t>
            </a:r>
            <a:r>
              <a:rPr sz="2800" spc="-2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proposed</a:t>
            </a:r>
            <a:r>
              <a:rPr sz="2800" spc="-2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9CF65-8104-2EC4-946A-ADD934F86C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5A89D4-52AC-1D8D-E2E4-9A84CD4CD896}"/>
              </a:ext>
            </a:extLst>
          </p:cNvPr>
          <p:cNvSpPr txBox="1"/>
          <p:nvPr/>
        </p:nvSpPr>
        <p:spPr>
          <a:xfrm>
            <a:off x="2743200" y="0"/>
            <a:ext cx="8001000" cy="259045"/>
          </a:xfrm>
          <a:prstGeom prst="rect">
            <a:avLst/>
          </a:prstGeom>
        </p:spPr>
        <p:txBody>
          <a:bodyPr vert="horz" wrap="square" lIns="0" tIns="12700" rIns="0" bIns="0" rtlCol="0">
            <a:spAutoFit/>
          </a:bodyPr>
          <a:lstStyle/>
          <a:p>
            <a:pPr marL="12700">
              <a:lnSpc>
                <a:spcPct val="100000"/>
              </a:lnSpc>
              <a:spcBef>
                <a:spcPts val="100"/>
              </a:spcBef>
            </a:pPr>
            <a:r>
              <a:rPr lang="en-US" sz="1600" b="1" i="1" dirty="0">
                <a:solidFill>
                  <a:srgbClr val="FFFFFF"/>
                </a:solidFill>
                <a:latin typeface="Times New Roman"/>
                <a:cs typeface="Times New Roman"/>
              </a:rPr>
              <a:t>Smart College Bus Tracking System Using Hybrid GPS and AI Chatbot</a:t>
            </a:r>
            <a:endParaRPr lang="en-US" sz="1600" dirty="0">
              <a:latin typeface="Times New Roman"/>
              <a:cs typeface="Times New Roman"/>
            </a:endParaRPr>
          </a:p>
        </p:txBody>
      </p:sp>
      <p:grpSp>
        <p:nvGrpSpPr>
          <p:cNvPr id="3" name="object 3">
            <a:extLst>
              <a:ext uri="{FF2B5EF4-FFF2-40B4-BE49-F238E27FC236}">
                <a16:creationId xmlns:a16="http://schemas.microsoft.com/office/drawing/2014/main" id="{7884F3D6-9C18-D97C-621E-0AC6E9C7CCFE}"/>
              </a:ext>
            </a:extLst>
          </p:cNvPr>
          <p:cNvGrpSpPr/>
          <p:nvPr/>
        </p:nvGrpSpPr>
        <p:grpSpPr>
          <a:xfrm>
            <a:off x="0" y="212399"/>
            <a:ext cx="12192000" cy="803275"/>
            <a:chOff x="0" y="212399"/>
            <a:chExt cx="12192000" cy="803275"/>
          </a:xfrm>
        </p:grpSpPr>
        <p:pic>
          <p:nvPicPr>
            <p:cNvPr id="4" name="object 4">
              <a:extLst>
                <a:ext uri="{FF2B5EF4-FFF2-40B4-BE49-F238E27FC236}">
                  <a16:creationId xmlns:a16="http://schemas.microsoft.com/office/drawing/2014/main" id="{BC294CF2-BB5A-8C4B-077C-8C2B04D31618}"/>
                </a:ext>
              </a:extLst>
            </p:cNvPr>
            <p:cNvPicPr/>
            <p:nvPr/>
          </p:nvPicPr>
          <p:blipFill>
            <a:blip r:embed="rId2" cstate="print"/>
            <a:stretch>
              <a:fillRect/>
            </a:stretch>
          </p:blipFill>
          <p:spPr>
            <a:xfrm>
              <a:off x="0" y="212399"/>
              <a:ext cx="12192000" cy="803160"/>
            </a:xfrm>
            <a:prstGeom prst="rect">
              <a:avLst/>
            </a:prstGeom>
          </p:spPr>
        </p:pic>
        <p:sp>
          <p:nvSpPr>
            <p:cNvPr id="5" name="object 5">
              <a:extLst>
                <a:ext uri="{FF2B5EF4-FFF2-40B4-BE49-F238E27FC236}">
                  <a16:creationId xmlns:a16="http://schemas.microsoft.com/office/drawing/2014/main" id="{A8FB50D9-09DF-4A9C-DD93-DEAAC370112A}"/>
                </a:ext>
              </a:extLst>
            </p:cNvPr>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D0A72AA6-7D3D-A8DD-3595-6DEAF17E8977}"/>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IN" dirty="0"/>
              <a:t>Title</a:t>
            </a:r>
            <a:r>
              <a:rPr lang="en-IN" spc="-110" dirty="0"/>
              <a:t> </a:t>
            </a:r>
            <a:r>
              <a:rPr lang="en-IN" spc="-10" dirty="0"/>
              <a:t>Justification</a:t>
            </a:r>
            <a:endParaRPr spc="-10" dirty="0"/>
          </a:p>
        </p:txBody>
      </p:sp>
      <p:sp>
        <p:nvSpPr>
          <p:cNvPr id="8" name="object 8">
            <a:extLst>
              <a:ext uri="{FF2B5EF4-FFF2-40B4-BE49-F238E27FC236}">
                <a16:creationId xmlns:a16="http://schemas.microsoft.com/office/drawing/2014/main" id="{56137B2E-7C8B-3EB4-8089-ECC7E3119089}"/>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IN" spc="-25" dirty="0"/>
              <a:t>25</a:t>
            </a:r>
            <a:endParaRPr spc="-25" dirty="0"/>
          </a:p>
        </p:txBody>
      </p:sp>
      <p:sp>
        <p:nvSpPr>
          <p:cNvPr id="9" name="object 9">
            <a:extLst>
              <a:ext uri="{FF2B5EF4-FFF2-40B4-BE49-F238E27FC236}">
                <a16:creationId xmlns:a16="http://schemas.microsoft.com/office/drawing/2014/main" id="{6BA1E2F7-A53E-88DE-1605-D6FF9E9C6857}"/>
              </a:ext>
            </a:extLst>
          </p:cNvPr>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a:extLst>
              <a:ext uri="{FF2B5EF4-FFF2-40B4-BE49-F238E27FC236}">
                <a16:creationId xmlns:a16="http://schemas.microsoft.com/office/drawing/2014/main" id="{799D763F-4E25-4B32-CA49-8BF68AD47EC1}"/>
              </a:ext>
            </a:extLst>
          </p:cNvPr>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B8FD2B94-5F8B-DCE9-780E-CE375CB034A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7" name="object 7">
            <a:extLst>
              <a:ext uri="{FF2B5EF4-FFF2-40B4-BE49-F238E27FC236}">
                <a16:creationId xmlns:a16="http://schemas.microsoft.com/office/drawing/2014/main" id="{E5134579-8FEB-42B0-95A3-CC6AD188EAD1}"/>
              </a:ext>
            </a:extLst>
          </p:cNvPr>
          <p:cNvSpPr txBox="1"/>
          <p:nvPr/>
        </p:nvSpPr>
        <p:spPr>
          <a:xfrm>
            <a:off x="325786" y="989990"/>
            <a:ext cx="11256613" cy="4160113"/>
          </a:xfrm>
          <a:prstGeom prst="rect">
            <a:avLst/>
          </a:prstGeom>
        </p:spPr>
        <p:txBody>
          <a:bodyPr vert="horz" wrap="square" lIns="0" tIns="96520" rIns="0" bIns="0" rtlCol="0">
            <a:spAutoFit/>
          </a:bodyPr>
          <a:lstStyle/>
          <a:p>
            <a:pPr algn="just"/>
            <a:r>
              <a:rPr lang="en-US" sz="2400" dirty="0"/>
              <a:t>The title </a:t>
            </a:r>
            <a:r>
              <a:rPr lang="en-US" sz="2400" b="1" dirty="0"/>
              <a:t>“Smart College Bus Tracking System Using Hybrid GPS and AI Chatbot”</a:t>
            </a:r>
            <a:r>
              <a:rPr lang="en-US" sz="2400" dirty="0"/>
              <a:t> is suitable because the project focuses on providing a reliable and intelligent solution for real-time college bus tracking. The system uses a </a:t>
            </a:r>
            <a:r>
              <a:rPr lang="en-US" sz="2400" b="1" dirty="0"/>
              <a:t>hybrid GPS approach</a:t>
            </a:r>
            <a:r>
              <a:rPr lang="en-US" sz="2400" dirty="0"/>
              <a:t>, where both a mobile phone and a dedicated GPS device are used to ensure continuous and accurate bus location tracking without interruption.</a:t>
            </a:r>
          </a:p>
          <a:p>
            <a:pPr algn="just"/>
            <a:endParaRPr lang="en-US" sz="2400" dirty="0"/>
          </a:p>
          <a:p>
            <a:pPr algn="just"/>
            <a:r>
              <a:rPr lang="en-US" sz="2400" dirty="0"/>
              <a:t>In addition, the integration of an </a:t>
            </a:r>
            <a:r>
              <a:rPr lang="en-US" sz="2400" b="1" dirty="0"/>
              <a:t>AI chatbot</a:t>
            </a:r>
            <a:r>
              <a:rPr lang="en-US" sz="2400" dirty="0"/>
              <a:t> enables effective and instant communication by answering student queries related to bus location, arrival time, routes, and delays. Since the project combines smart tracking, backup reliability, and intelligent communication to improve transportation convenience and management, the title clearly reflects the purpose and functionality of the system.</a:t>
            </a:r>
          </a:p>
        </p:txBody>
      </p:sp>
    </p:spTree>
    <p:extLst>
      <p:ext uri="{BB962C8B-B14F-4D97-AF65-F5344CB8AC3E}">
        <p14:creationId xmlns:p14="http://schemas.microsoft.com/office/powerpoint/2010/main" val="768045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0" y="21552"/>
            <a:ext cx="7239000" cy="228268"/>
          </a:xfrm>
          <a:prstGeom prst="rect">
            <a:avLst/>
          </a:prstGeom>
        </p:spPr>
        <p:txBody>
          <a:bodyPr vert="horz" wrap="square" lIns="0" tIns="12700" rIns="0" bIns="0" rtlCol="0">
            <a:spAutoFit/>
          </a:bodyPr>
          <a:lstStyle/>
          <a:p>
            <a:pPr marL="12700">
              <a:lnSpc>
                <a:spcPct val="100000"/>
              </a:lnSpc>
              <a:spcBef>
                <a:spcPts val="100"/>
              </a:spcBef>
            </a:pPr>
            <a:r>
              <a:rPr lang="en-US" sz="1400" b="1" i="1" dirty="0">
                <a:solidFill>
                  <a:srgbClr val="FFFFFF"/>
                </a:solidFill>
                <a:latin typeface="Times New Roman"/>
                <a:cs typeface="Times New Roman"/>
              </a:rPr>
              <a:t>Smart College Bus Tracking System Using Hybrid GPS and AI Chatbot</a:t>
            </a:r>
            <a:endParaRPr lang="en-US" sz="14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9030" y="209958"/>
            <a:ext cx="6559991" cy="689932"/>
          </a:xfrm>
          <a:prstGeom prst="rect">
            <a:avLst/>
          </a:prstGeom>
        </p:spPr>
        <p:txBody>
          <a:bodyPr vert="horz" wrap="square" lIns="0" tIns="12700" rIns="0" bIns="0" rtlCol="0">
            <a:spAutoFit/>
          </a:bodyPr>
          <a:lstStyle/>
          <a:p>
            <a:pPr marL="12700">
              <a:lnSpc>
                <a:spcPct val="100000"/>
              </a:lnSpc>
              <a:spcBef>
                <a:spcPts val="100"/>
              </a:spcBef>
            </a:pPr>
            <a:r>
              <a:rPr lang="en-IN" sz="2800" spc="-10" dirty="0"/>
              <a:t> </a:t>
            </a:r>
            <a:r>
              <a:rPr spc="-10" dirty="0"/>
              <a:t>Abstract</a:t>
            </a:r>
            <a:endParaRPr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IN" spc="-25" dirty="0"/>
              <a:t>25</a:t>
            </a:r>
            <a:endParaRPr spc="-25" dirty="0"/>
          </a:p>
        </p:txBody>
      </p:sp>
      <p:sp>
        <p:nvSpPr>
          <p:cNvPr id="9" name="object 9"/>
          <p:cNvSpPr txBox="1">
            <a:spLocks noGrp="1"/>
          </p:cNvSpPr>
          <p:nvPr>
            <p:ph type="dt" sz="half" idx="6"/>
          </p:nvPr>
        </p:nvSpPr>
        <p:spPr>
          <a:xfrm>
            <a:off x="1247734" y="6641281"/>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9022" y="6605614"/>
            <a:ext cx="4235244" cy="23083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7" name="object 7"/>
          <p:cNvSpPr txBox="1"/>
          <p:nvPr/>
        </p:nvSpPr>
        <p:spPr>
          <a:xfrm>
            <a:off x="272465" y="989990"/>
            <a:ext cx="11623675" cy="5275162"/>
          </a:xfrm>
          <a:prstGeom prst="rect">
            <a:avLst/>
          </a:prstGeom>
        </p:spPr>
        <p:txBody>
          <a:bodyPr vert="horz" wrap="square" lIns="0" tIns="12065" rIns="0" bIns="0" rtlCol="0">
            <a:spAutoFit/>
          </a:bodyPr>
          <a:lstStyle/>
          <a:p>
            <a:pPr algn="just"/>
            <a:r>
              <a:rPr lang="en-US" dirty="0"/>
              <a:t>This project presents a </a:t>
            </a:r>
            <a:r>
              <a:rPr lang="en-US" b="1" dirty="0"/>
              <a:t>Smart College Bus Tracking System</a:t>
            </a:r>
            <a:r>
              <a:rPr lang="en-US" dirty="0"/>
              <a:t> designed to provide reliable real-time bus location information using a </a:t>
            </a:r>
            <a:r>
              <a:rPr lang="en-US" b="1" dirty="0"/>
              <a:t>hybrid GPS approach and AI-based communication</a:t>
            </a:r>
            <a:r>
              <a:rPr lang="en-US" dirty="0"/>
              <a:t>. Traditional bus tracking systems either rely on costly GPS hardware or manual communication methods, which often lead to interruptions and inconvenience. To overcome these limitations, the proposed system combines </a:t>
            </a:r>
            <a:r>
              <a:rPr lang="en-US" b="1" dirty="0"/>
              <a:t>mobile-based GPS tracking with a dedicated GPS tracking device</a:t>
            </a:r>
            <a:r>
              <a:rPr lang="en-US" dirty="0"/>
              <a:t>, ensuring uninterrupted and accurate bus location updates.</a:t>
            </a:r>
          </a:p>
          <a:p>
            <a:pPr algn="just"/>
            <a:endParaRPr lang="en-US" dirty="0"/>
          </a:p>
          <a:p>
            <a:pPr algn="just"/>
            <a:r>
              <a:rPr lang="en-US" dirty="0"/>
              <a:t>The system is developed with three main modules: </a:t>
            </a:r>
            <a:r>
              <a:rPr lang="en-US" b="1" dirty="0"/>
              <a:t>Admin, Driver, and Student</a:t>
            </a:r>
            <a:r>
              <a:rPr lang="en-US" dirty="0"/>
              <a:t>. The </a:t>
            </a:r>
            <a:r>
              <a:rPr lang="en-US" b="1" dirty="0"/>
              <a:t>Admin module</a:t>
            </a:r>
            <a:r>
              <a:rPr lang="en-US" dirty="0"/>
              <a:t> allows administrators to manage buses, drivers, students, routes, and complaints through a centralized platform. The </a:t>
            </a:r>
            <a:r>
              <a:rPr lang="en-US" b="1" dirty="0"/>
              <a:t>Driver module</a:t>
            </a:r>
            <a:r>
              <a:rPr lang="en-US" dirty="0"/>
              <a:t> enables drivers to update live bus locations using a mobile application, while the GPS device acts as a backup source for continuous tracking. The </a:t>
            </a:r>
            <a:r>
              <a:rPr lang="en-US" b="1" dirty="0"/>
              <a:t>Student module</a:t>
            </a:r>
            <a:r>
              <a:rPr lang="en-US" dirty="0"/>
              <a:t> provides real-time bus tracking, estimated arrival time (ETA), stop-based alerts, route details, and complaint submission through a web or mobile interface.</a:t>
            </a:r>
          </a:p>
          <a:p>
            <a:pPr algn="just"/>
            <a:endParaRPr lang="en-US" dirty="0"/>
          </a:p>
          <a:p>
            <a:pPr algn="just"/>
            <a:r>
              <a:rPr lang="en-US" dirty="0"/>
              <a:t>To enhance communication, an </a:t>
            </a:r>
            <a:r>
              <a:rPr lang="en-US" b="1" dirty="0"/>
              <a:t>AI chatbot</a:t>
            </a:r>
            <a:r>
              <a:rPr lang="en-US" dirty="0"/>
              <a:t> is integrated into the system, enabling students to instantly query bus location, arrival time, and other transportation-related information without manual intervention. This reduces dependency on phone calls or messaging applications and improves response time.</a:t>
            </a:r>
          </a:p>
          <a:p>
            <a:pPr algn="just"/>
            <a:endParaRPr lang="en-US" dirty="0"/>
          </a:p>
          <a:p>
            <a:pPr algn="just"/>
            <a:r>
              <a:rPr lang="en-US" dirty="0"/>
              <a:t>Overall, the proposed system improves transportation reliability, reduces waiting time, enhances user convenience, and ensures effective communication. By using cloud computing, hybrid GPS tracking, and AI-based interaction, the system offers a smart, scalable, and cost-effective solution for college transportation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19400" y="12747"/>
            <a:ext cx="6858000" cy="259045"/>
          </a:xfrm>
          <a:prstGeom prst="rect">
            <a:avLst/>
          </a:prstGeom>
        </p:spPr>
        <p:txBody>
          <a:bodyPr vert="horz" wrap="square" lIns="0" tIns="12700" rIns="0" bIns="0" rtlCol="0">
            <a:spAutoFit/>
          </a:bodyPr>
          <a:lstStyle/>
          <a:p>
            <a:pPr marL="12700">
              <a:lnSpc>
                <a:spcPct val="100000"/>
              </a:lnSpc>
              <a:spcBef>
                <a:spcPts val="100"/>
              </a:spcBef>
            </a:pPr>
            <a:r>
              <a:rPr lang="en-US" sz="1600" b="1" i="1" dirty="0">
                <a:solidFill>
                  <a:srgbClr val="FFFFFF"/>
                </a:solidFill>
                <a:latin typeface="Times New Roman"/>
                <a:cs typeface="Times New Roman"/>
              </a:rPr>
              <a:t>Smart College Bus Tracking System Using Hybrid GPS and AI Chatbot</a:t>
            </a:r>
            <a:endParaRPr lang="en-US" sz="16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IN" spc="-25" dirty="0"/>
              <a:t>25</a:t>
            </a:r>
            <a:endParaRPr spc="-25" dirty="0"/>
          </a:p>
        </p:txBody>
      </p:sp>
      <p:sp>
        <p:nvSpPr>
          <p:cNvPr id="9" name="object 9"/>
          <p:cNvSpPr txBox="1">
            <a:spLocks noGrp="1"/>
          </p:cNvSpPr>
          <p:nvPr>
            <p:ph type="dt" sz="half" idx="6"/>
          </p:nvPr>
        </p:nvSpPr>
        <p:spPr>
          <a:xfrm>
            <a:off x="1262974" y="6629197"/>
            <a:ext cx="4071026" cy="228803"/>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5600" y="6607175"/>
            <a:ext cx="4223426"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7" name="object 7"/>
          <p:cNvSpPr txBox="1">
            <a:spLocks noGrp="1"/>
          </p:cNvSpPr>
          <p:nvPr>
            <p:ph type="body" idx="1"/>
          </p:nvPr>
        </p:nvSpPr>
        <p:spPr>
          <a:xfrm>
            <a:off x="236899" y="1074318"/>
            <a:ext cx="11346815" cy="4493538"/>
          </a:xfrm>
          <a:prstGeom prst="rect">
            <a:avLst/>
          </a:prstGeom>
        </p:spPr>
        <p:txBody>
          <a:bodyPr vert="horz" wrap="square" lIns="0" tIns="60960" rIns="0" bIns="0" rtlCol="0">
            <a:spAutoFit/>
          </a:bodyPr>
          <a:lstStyle/>
          <a:p>
            <a:pPr algn="just"/>
            <a:r>
              <a:rPr lang="en-US" sz="2400" dirty="0"/>
              <a:t>Students in many educational institutions face uncertainty about bus arrival times due to the lack of real-time updates and efficient communication. Traditional methods like phone calls or manual announcements are unreliable, causing delays, missed buses, and inconvenience. Administrators struggle to manage buses, drivers, routes, and complaints effectively, while drivers lack a structured platform for live updates.</a:t>
            </a:r>
          </a:p>
          <a:p>
            <a:pPr algn="just"/>
            <a:endParaRPr lang="en-US" sz="2400" dirty="0"/>
          </a:p>
          <a:p>
            <a:pPr algn="just"/>
            <a:endParaRPr lang="en-US" sz="2400" dirty="0"/>
          </a:p>
          <a:p>
            <a:pPr algn="just"/>
            <a:r>
              <a:rPr lang="en-US" sz="2400" dirty="0"/>
              <a:t>A centralized, smart system is needed that combines </a:t>
            </a:r>
            <a:r>
              <a:rPr lang="en-US" sz="2400" b="1" dirty="0"/>
              <a:t>mobile and device-based GPS tracking, real-time location updates, estimated arrival times, stop alerts, AI-based query handling, and complaint management</a:t>
            </a:r>
            <a:r>
              <a:rPr lang="en-US" sz="2400" dirty="0"/>
              <a:t>. Such a system will improve transportation reliability, reduce waiting time, and enhance communication for students, drivers, and administrators.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67000" y="-26125"/>
            <a:ext cx="7162800" cy="259045"/>
          </a:xfrm>
          <a:prstGeom prst="rect">
            <a:avLst/>
          </a:prstGeom>
        </p:spPr>
        <p:txBody>
          <a:bodyPr vert="horz" wrap="square" lIns="0" tIns="12700" rIns="0" bIns="0" rtlCol="0">
            <a:spAutoFit/>
          </a:bodyPr>
          <a:lstStyle/>
          <a:p>
            <a:pPr marL="12700">
              <a:lnSpc>
                <a:spcPct val="100000"/>
              </a:lnSpc>
              <a:spcBef>
                <a:spcPts val="100"/>
              </a:spcBef>
            </a:pPr>
            <a:r>
              <a:rPr lang="en-US" sz="1600" b="1" i="1" dirty="0">
                <a:solidFill>
                  <a:srgbClr val="FFFFFF"/>
                </a:solidFill>
                <a:latin typeface="Times New Roman"/>
                <a:cs typeface="Times New Roman"/>
              </a:rPr>
              <a:t>Smart College Bus Tracking System Using Hybrid GPS and AI Chatbot</a:t>
            </a:r>
            <a:endParaRPr lang="en-US" sz="16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IN" spc="-25" dirty="0"/>
              <a:t>25</a:t>
            </a: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934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7" name="object 7"/>
          <p:cNvSpPr txBox="1"/>
          <p:nvPr/>
        </p:nvSpPr>
        <p:spPr>
          <a:xfrm>
            <a:off x="272465" y="1110318"/>
            <a:ext cx="11619230" cy="4378058"/>
          </a:xfrm>
          <a:prstGeom prst="rect">
            <a:avLst/>
          </a:prstGeom>
        </p:spPr>
        <p:txBody>
          <a:bodyPr vert="horz" wrap="square" lIns="0" tIns="12700" rIns="0" bIns="0" rtlCol="0">
            <a:spAutoFit/>
          </a:bodyPr>
          <a:lstStyle/>
          <a:p>
            <a:pPr algn="l">
              <a:lnSpc>
                <a:spcPct val="150000"/>
              </a:lnSpc>
            </a:pPr>
            <a:r>
              <a:rPr lang="en-US" sz="2400" b="1" dirty="0"/>
              <a:t>Objective 1:</a:t>
            </a:r>
            <a:br>
              <a:rPr lang="en-US" sz="2400" b="1" dirty="0"/>
            </a:br>
            <a:r>
              <a:rPr lang="en-US" sz="2400" dirty="0"/>
              <a:t>To develop a real-time college bus tracking system using a hybrid GPS approach (mobile-based GPS with backup GPS device) to provide accurate bus location updates without any interruption</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Objective 2:</a:t>
            </a:r>
          </a:p>
          <a:p>
            <a:pPr algn="just">
              <a:lnSpc>
                <a:spcPct val="150000"/>
              </a:lnSpc>
            </a:pPr>
            <a:r>
              <a:rPr lang="en-US" sz="2400" dirty="0"/>
              <a:t>To enhance user convenience by providing live bus location, estimated arrival time (ETA), stop-based alerts, route details, and complaint submission, along with an AI chatbot for instant query handling</a:t>
            </a:r>
            <a:r>
              <a:rPr lang="en-US"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11062"/>
            <a:ext cx="8558910" cy="243090"/>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rPr>
              <a:t>Smart College Bus Tracking System Using Hybrid GPS and AI Chatbot</a:t>
            </a:r>
            <a:endParaRPr lang="en-US" sz="1500" dirty="0"/>
          </a:p>
        </p:txBody>
      </p:sp>
      <p:grpSp>
        <p:nvGrpSpPr>
          <p:cNvPr id="3" name="object 3"/>
          <p:cNvGrpSpPr/>
          <p:nvPr/>
        </p:nvGrpSpPr>
        <p:grpSpPr>
          <a:xfrm>
            <a:off x="0" y="216408"/>
            <a:ext cx="12192000" cy="803275"/>
            <a:chOff x="0" y="216408"/>
            <a:chExt cx="12192000" cy="803275"/>
          </a:xfrm>
        </p:grpSpPr>
        <p:pic>
          <p:nvPicPr>
            <p:cNvPr id="4" name="object 4"/>
            <p:cNvPicPr/>
            <p:nvPr/>
          </p:nvPicPr>
          <p:blipFill>
            <a:blip r:embed="rId3" cstate="print"/>
            <a:stretch>
              <a:fillRect/>
            </a:stretch>
          </p:blipFill>
          <p:spPr>
            <a:xfrm>
              <a:off x="0" y="216408"/>
              <a:ext cx="12192000" cy="803148"/>
            </a:xfrm>
            <a:prstGeom prst="rect">
              <a:avLst/>
            </a:prstGeom>
          </p:spPr>
        </p:pic>
        <p:sp>
          <p:nvSpPr>
            <p:cNvPr id="5" name="object 5"/>
            <p:cNvSpPr/>
            <p:nvPr/>
          </p:nvSpPr>
          <p:spPr>
            <a:xfrm>
              <a:off x="0" y="233159"/>
              <a:ext cx="12192000" cy="715010"/>
            </a:xfrm>
            <a:custGeom>
              <a:avLst/>
              <a:gdLst/>
              <a:ahLst/>
              <a:cxnLst/>
              <a:rect l="l" t="t" r="r" b="b"/>
              <a:pathLst>
                <a:path w="12192000" h="715010">
                  <a:moveTo>
                    <a:pt x="12192000" y="0"/>
                  </a:moveTo>
                  <a:lnTo>
                    <a:pt x="0" y="0"/>
                  </a:lnTo>
                  <a:lnTo>
                    <a:pt x="0" y="714387"/>
                  </a:lnTo>
                  <a:lnTo>
                    <a:pt x="12192000" y="714387"/>
                  </a:lnTo>
                  <a:lnTo>
                    <a:pt x="12192000" y="0"/>
                  </a:lnTo>
                  <a:close/>
                </a:path>
              </a:pathLst>
            </a:custGeom>
            <a:solidFill>
              <a:srgbClr val="FF6600"/>
            </a:solidFill>
          </p:spPr>
          <p:txBody>
            <a:bodyPr wrap="square" lIns="0" tIns="0" rIns="0" bIns="0" rtlCol="0"/>
            <a:lstStyle/>
            <a:p>
              <a:endParaRPr/>
            </a:p>
          </p:txBody>
        </p:sp>
      </p:grpSp>
      <p:sp>
        <p:nvSpPr>
          <p:cNvPr id="6" name="object 6"/>
          <p:cNvSpPr txBox="1"/>
          <p:nvPr/>
        </p:nvSpPr>
        <p:spPr>
          <a:xfrm>
            <a:off x="133908" y="232028"/>
            <a:ext cx="3936365" cy="696595"/>
          </a:xfrm>
          <a:prstGeom prst="rect">
            <a:avLst/>
          </a:prstGeom>
        </p:spPr>
        <p:txBody>
          <a:bodyPr vert="horz" wrap="square" lIns="0" tIns="12700" rIns="0" bIns="0" rtlCol="0">
            <a:spAutoFit/>
          </a:bodyPr>
          <a:lstStyle/>
          <a:p>
            <a:pPr marL="12700">
              <a:lnSpc>
                <a:spcPct val="100000"/>
              </a:lnSpc>
              <a:spcBef>
                <a:spcPts val="100"/>
              </a:spcBef>
            </a:pPr>
            <a:r>
              <a:rPr sz="4400" dirty="0">
                <a:solidFill>
                  <a:srgbClr val="FFFFFF"/>
                </a:solidFill>
                <a:latin typeface="Times New Roman"/>
                <a:cs typeface="Times New Roman"/>
              </a:rPr>
              <a:t>Literature</a:t>
            </a:r>
            <a:r>
              <a:rPr sz="4400" spc="-100" dirty="0">
                <a:solidFill>
                  <a:srgbClr val="FFFFFF"/>
                </a:solidFill>
                <a:latin typeface="Times New Roman"/>
                <a:cs typeface="Times New Roman"/>
              </a:rPr>
              <a:t> </a:t>
            </a:r>
            <a:r>
              <a:rPr sz="4400" spc="-10" dirty="0">
                <a:solidFill>
                  <a:srgbClr val="FFFFFF"/>
                </a:solidFill>
                <a:latin typeface="Times New Roman"/>
                <a:cs typeface="Times New Roman"/>
              </a:rPr>
              <a:t>Survey</a:t>
            </a:r>
            <a:endParaRPr sz="4400" dirty="0">
              <a:latin typeface="Times New Roman"/>
              <a:cs typeface="Times New Roman"/>
            </a:endParaRPr>
          </a:p>
        </p:txBody>
      </p:sp>
      <p:sp>
        <p:nvSpPr>
          <p:cNvPr id="8" name="object 8"/>
          <p:cNvSpPr txBox="1"/>
          <p:nvPr/>
        </p:nvSpPr>
        <p:spPr>
          <a:xfrm>
            <a:off x="140614" y="6608595"/>
            <a:ext cx="535305" cy="230832"/>
          </a:xfrm>
          <a:prstGeom prst="rect">
            <a:avLst/>
          </a:prstGeom>
        </p:spPr>
        <p:txBody>
          <a:bodyPr vert="horz" wrap="square" lIns="0" tIns="0" rIns="0" bIns="0" rtlCol="0">
            <a:spAutoFit/>
          </a:bodyPr>
          <a:lstStyle/>
          <a:p>
            <a:pPr marL="12700">
              <a:lnSpc>
                <a:spcPts val="1839"/>
              </a:lnSpc>
            </a:pPr>
            <a:r>
              <a:rPr lang="en-IN" sz="1600" dirty="0">
                <a:solidFill>
                  <a:srgbClr val="FFFFFF"/>
                </a:solidFill>
                <a:latin typeface="Times New Roman"/>
                <a:cs typeface="Times New Roman"/>
              </a:rPr>
              <a:t>A-25</a:t>
            </a:r>
            <a:endParaRPr sz="1600" dirty="0">
              <a:latin typeface="Times New Roman"/>
              <a:cs typeface="Times New Roman"/>
            </a:endParaRPr>
          </a:p>
        </p:txBody>
      </p:sp>
      <p:sp>
        <p:nvSpPr>
          <p:cNvPr id="9" name="object 9"/>
          <p:cNvSpPr txBox="1">
            <a:spLocks noGrp="1"/>
          </p:cNvSpPr>
          <p:nvPr>
            <p:ph type="ftr" sz="quarter" idx="5"/>
          </p:nvPr>
        </p:nvSpPr>
        <p:spPr>
          <a:xfrm>
            <a:off x="1121765" y="6607681"/>
            <a:ext cx="4474184" cy="230832"/>
          </a:xfrm>
          <a:prstGeom prst="rect">
            <a:avLst/>
          </a:prstGeom>
        </p:spPr>
        <p:txBody>
          <a:bodyPr vert="horz" wrap="square" lIns="0" tIns="0" rIns="0" bIns="0" rtlCol="0">
            <a:spAutoFit/>
          </a:bodyPr>
          <a:lstStyle/>
          <a:p>
            <a:pPr marL="12700">
              <a:lnSpc>
                <a:spcPts val="1839"/>
              </a:lnSpc>
            </a:pPr>
            <a:r>
              <a:rPr cap="small" spc="-70" dirty="0"/>
              <a:t>Dept.</a:t>
            </a:r>
            <a:r>
              <a:rPr cap="small" spc="-130" dirty="0"/>
              <a:t> </a:t>
            </a:r>
            <a:r>
              <a:rPr cap="small" dirty="0"/>
              <a:t>of</a:t>
            </a:r>
            <a:r>
              <a:rPr cap="small" spc="55" dirty="0"/>
              <a:t> </a:t>
            </a:r>
            <a:r>
              <a:rPr cap="small" spc="-95" dirty="0"/>
              <a:t>Computer</a:t>
            </a:r>
            <a:r>
              <a:rPr cap="small" spc="45" dirty="0"/>
              <a:t> </a:t>
            </a:r>
            <a:r>
              <a:rPr cap="small" spc="-75" dirty="0"/>
              <a:t>Science</a:t>
            </a:r>
            <a:r>
              <a:rPr cap="small" spc="15" dirty="0"/>
              <a:t> </a:t>
            </a:r>
            <a:r>
              <a:rPr cap="small" spc="-40" dirty="0"/>
              <a:t>and</a:t>
            </a:r>
            <a:r>
              <a:rPr cap="small" spc="45" dirty="0"/>
              <a:t> </a:t>
            </a:r>
            <a:r>
              <a:rPr cap="small" spc="-90" dirty="0"/>
              <a:t>Engineering</a:t>
            </a:r>
            <a:r>
              <a:rPr cap="small" spc="-50" dirty="0"/>
              <a:t> </a:t>
            </a:r>
            <a:endParaRPr cap="small" spc="-125" dirty="0"/>
          </a:p>
        </p:txBody>
      </p:sp>
      <p:sp>
        <p:nvSpPr>
          <p:cNvPr id="10" name="object 10"/>
          <p:cNvSpPr txBox="1">
            <a:spLocks noGrp="1"/>
          </p:cNvSpPr>
          <p:nvPr>
            <p:ph type="dt" sz="half" idx="6"/>
          </p:nvPr>
        </p:nvSpPr>
        <p:spPr>
          <a:xfrm>
            <a:off x="6249315" y="6611112"/>
            <a:ext cx="4800600" cy="235549"/>
          </a:xfrm>
          <a:prstGeom prst="rect">
            <a:avLst/>
          </a:prstGeom>
        </p:spPr>
        <p:txBody>
          <a:bodyPr vert="horz" wrap="square" lIns="0" tIns="0" rIns="0" bIns="0" rtlCol="0">
            <a:spAutoFit/>
          </a:bodyPr>
          <a:lstStyle/>
          <a:p>
            <a:pPr marL="509270">
              <a:lnSpc>
                <a:spcPts val="1839"/>
              </a:lnSpc>
            </a:pPr>
            <a:r>
              <a:rPr lang="en-IN" cap="small" spc="-85" dirty="0"/>
              <a:t>Srinivasa</a:t>
            </a:r>
            <a:r>
              <a:rPr lang="en-IN" cap="small" spc="-10" dirty="0"/>
              <a:t> </a:t>
            </a:r>
            <a:r>
              <a:rPr lang="en-IN" cap="small" spc="-95" dirty="0"/>
              <a:t>Ramanujan</a:t>
            </a:r>
            <a:r>
              <a:rPr lang="en-IN" cap="small" spc="-20" dirty="0"/>
              <a:t> </a:t>
            </a:r>
            <a:r>
              <a:rPr lang="en-IN" cap="small" spc="-95" dirty="0"/>
              <a:t>Institute</a:t>
            </a:r>
            <a:r>
              <a:rPr lang="en-IN" cap="small" spc="80" dirty="0"/>
              <a:t> </a:t>
            </a:r>
            <a:r>
              <a:rPr lang="en-IN" cap="small" dirty="0"/>
              <a:t>of</a:t>
            </a:r>
            <a:r>
              <a:rPr lang="en-IN" cap="small" spc="145" dirty="0"/>
              <a:t> </a:t>
            </a:r>
            <a:r>
              <a:rPr lang="en-IN" cap="small" spc="-155" dirty="0"/>
              <a:t>Technology</a:t>
            </a:r>
            <a:endParaRPr cap="small" spc="-155" dirty="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839"/>
              </a:lnSpc>
            </a:pPr>
            <a:fld id="{81D60167-4931-47E6-BA6A-407CBD079E47}" type="slidenum">
              <a:rPr spc="-25" dirty="0"/>
              <a:t>7</a:t>
            </a:fld>
            <a:endParaRPr spc="-25" dirty="0"/>
          </a:p>
        </p:txBody>
      </p:sp>
      <p:sp>
        <p:nvSpPr>
          <p:cNvPr id="13" name="TextBox 12">
            <a:extLst>
              <a:ext uri="{FF2B5EF4-FFF2-40B4-BE49-F238E27FC236}">
                <a16:creationId xmlns:a16="http://schemas.microsoft.com/office/drawing/2014/main" id="{4096A318-42DF-7FD8-E9D7-84469B42EB80}"/>
              </a:ext>
            </a:extLst>
          </p:cNvPr>
          <p:cNvSpPr txBox="1"/>
          <p:nvPr/>
        </p:nvSpPr>
        <p:spPr>
          <a:xfrm>
            <a:off x="133908" y="1019556"/>
            <a:ext cx="11917478" cy="5755422"/>
          </a:xfrm>
          <a:prstGeom prst="rect">
            <a:avLst/>
          </a:prstGeom>
          <a:noFill/>
        </p:spPr>
        <p:txBody>
          <a:bodyPr wrap="square">
            <a:spAutoFit/>
          </a:bodyPr>
          <a:lstStyle/>
          <a:p>
            <a:pPr>
              <a:buNone/>
            </a:pPr>
            <a:r>
              <a:rPr lang="en-US" sz="1600" b="1" dirty="0"/>
              <a:t>Objective : To develop a real-time college bus tracking system using a hybrid GPS approach (mobile-based GPS with backup GPS device) to provide accurate bus location updates without any interruption</a:t>
            </a:r>
          </a:p>
          <a:p>
            <a:pPr>
              <a:buNone/>
            </a:pPr>
            <a:r>
              <a:rPr lang="en-US" sz="1600" dirty="0"/>
              <a:t>Real-time bus tracking has been widely explored using GPS devices and mapping services like Google Maps. Studies show that mobile GPS combined with a backup GPS device and live map visualization can provide accurate location updates. Using real-time data streaming and cloud-based services, students and administrators can track bus movement and estimate arrival times reliably.</a:t>
            </a:r>
          </a:p>
          <a:p>
            <a:pPr>
              <a:buNone/>
            </a:pPr>
            <a:r>
              <a:rPr lang="en-US" sz="1600" b="1" dirty="0"/>
              <a:t>Limitation:</a:t>
            </a:r>
          </a:p>
          <a:p>
            <a:pPr>
              <a:buNone/>
            </a:pPr>
            <a:r>
              <a:rPr lang="en-US" sz="1600" dirty="0"/>
              <a:t>Most existing systems rely on </a:t>
            </a:r>
            <a:r>
              <a:rPr lang="en-US" sz="1600" b="1" dirty="0"/>
              <a:t>dedicated GPS hardware installed in buses</a:t>
            </a:r>
            <a:r>
              <a:rPr lang="en-US" sz="1600" dirty="0"/>
              <a:t>, making deployment costly for institutions. Many solutions also lack additional features like ETA prediction, stop-based alerts, and role-based access control.</a:t>
            </a:r>
          </a:p>
          <a:p>
            <a:pPr>
              <a:buNone/>
            </a:pPr>
            <a:r>
              <a:rPr lang="en-US" sz="1600" b="1" dirty="0"/>
              <a:t>Example:</a:t>
            </a:r>
          </a:p>
          <a:p>
            <a:pPr>
              <a:buFont typeface="Arial" panose="020B0604020202020204" pitchFamily="34" charset="0"/>
              <a:buChar char="•"/>
            </a:pPr>
            <a:r>
              <a:rPr lang="en-US" sz="1600" b="1" dirty="0"/>
              <a:t>Rao et al. (2023)</a:t>
            </a:r>
            <a:r>
              <a:rPr lang="en-US" sz="1600" dirty="0"/>
              <a:t> implemented a GPS-based school bus monitoring system, but required expensive tracking hardware.</a:t>
            </a:r>
          </a:p>
          <a:p>
            <a:pPr>
              <a:buFont typeface="Arial" panose="020B0604020202020204" pitchFamily="34" charset="0"/>
              <a:buChar char="•"/>
            </a:pPr>
            <a:r>
              <a:rPr lang="en-US" sz="1600" b="1" dirty="0"/>
              <a:t>Singh &amp; Patel </a:t>
            </a:r>
            <a:r>
              <a:rPr lang="en-US" sz="1600" b="1"/>
              <a:t>(2022)</a:t>
            </a:r>
            <a:r>
              <a:rPr lang="en-US" sz="1600"/>
              <a:t> </a:t>
            </a:r>
            <a:r>
              <a:rPr lang="en-US" sz="1600" dirty="0"/>
              <a:t>used a mobile phone for location tracking, but the system lacked ETA and student notification features.</a:t>
            </a:r>
          </a:p>
          <a:p>
            <a:pPr>
              <a:buNone/>
            </a:pPr>
            <a:r>
              <a:rPr lang="en-US" sz="1600" b="1" dirty="0"/>
              <a:t>Gap:</a:t>
            </a:r>
          </a:p>
          <a:p>
            <a:r>
              <a:rPr lang="en-US" sz="1600" dirty="0"/>
              <a:t>There is a lack of </a:t>
            </a:r>
            <a:r>
              <a:rPr lang="en-US" sz="1600" b="1" dirty="0"/>
              <a:t>mobile-based, cost-effective, and smart college bus tracking systems</a:t>
            </a:r>
            <a:r>
              <a:rPr lang="en-US" sz="1600" dirty="0"/>
              <a:t> that offer:</a:t>
            </a:r>
          </a:p>
          <a:p>
            <a:r>
              <a:rPr lang="en-US" sz="1600" b="1" dirty="0"/>
              <a:t>- </a:t>
            </a:r>
            <a:r>
              <a:rPr lang="en-US" sz="1600" dirty="0"/>
              <a:t>Hybrid GPS tracking (mobile + backup device)</a:t>
            </a:r>
          </a:p>
          <a:p>
            <a:r>
              <a:rPr lang="en-US" sz="1600" dirty="0"/>
              <a:t>- Live map visualization</a:t>
            </a:r>
          </a:p>
          <a:p>
            <a:r>
              <a:rPr lang="en-US" sz="1600" dirty="0"/>
              <a:t>- ETA calculation</a:t>
            </a:r>
          </a:p>
          <a:p>
            <a:r>
              <a:rPr lang="en-US" sz="1600" dirty="0"/>
              <a:t>- Stop-based alerts</a:t>
            </a:r>
          </a:p>
          <a:p>
            <a:r>
              <a:rPr lang="en-US" sz="1600" dirty="0"/>
              <a:t>- Complaint management</a:t>
            </a:r>
          </a:p>
          <a:p>
            <a:r>
              <a:rPr lang="en-US" sz="1600" dirty="0"/>
              <a:t>- AI-based communication</a:t>
            </a:r>
          </a:p>
          <a:p>
            <a:r>
              <a:rPr lang="en-US" sz="1600" dirty="0"/>
              <a:t>- Role-based access for Admin, Driver, and Student</a:t>
            </a:r>
          </a:p>
          <a:p>
            <a:pPr>
              <a:buNone/>
            </a:pPr>
            <a:r>
              <a:rPr lang="en-US" sz="1600" dirty="0"/>
              <a:t>This project bridges the gap by using </a:t>
            </a:r>
            <a:r>
              <a:rPr lang="en-US" sz="1600" b="1" dirty="0"/>
              <a:t>smartphone GPS and cloud-based real-time location streaming</a:t>
            </a:r>
            <a:r>
              <a:rPr lang="en-US" sz="1600" dirty="0"/>
              <a:t> to create an efficient and scalable bus tracking solution.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19400" y="-18340"/>
            <a:ext cx="6705600" cy="251260"/>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College Bus Tracking System Using Hybrid GPS and AI Chatbot</a:t>
            </a:r>
            <a:endParaRPr lang="en-US" sz="1500" dirty="0">
              <a:latin typeface="Times New Roman"/>
              <a:cs typeface="Times New Roman"/>
            </a:endParaRPr>
          </a:p>
        </p:txBody>
      </p:sp>
      <p:sp>
        <p:nvSpPr>
          <p:cNvPr id="3" name="object 3"/>
          <p:cNvSpPr txBox="1"/>
          <p:nvPr/>
        </p:nvSpPr>
        <p:spPr>
          <a:xfrm>
            <a:off x="236899" y="1002318"/>
            <a:ext cx="11164570" cy="3508653"/>
          </a:xfrm>
          <a:prstGeom prst="rect">
            <a:avLst/>
          </a:prstGeom>
        </p:spPr>
        <p:txBody>
          <a:bodyPr vert="horz" wrap="square" lIns="0" tIns="60960" rIns="0" bIns="0" rtlCol="0">
            <a:spAutoFit/>
          </a:bodyPr>
          <a:lstStyle/>
          <a:p>
            <a:r>
              <a:rPr lang="en-US" sz="2800" dirty="0"/>
              <a:t>The proposed system is a web and mobile platform to manage college bus transportation efficiently. Students can track buses in real-time, view estimated arrival times (ETA), receive stop-based alerts, and submit complaints. Drivers can update bus locations using a mobile app or backup GPS device, while administrators manage routes, schedules, notifications, and student complaints. An AI chatbot provides instant responses to bus-related queries, making the system reliable, convenient, and transparent for all users.</a:t>
            </a:r>
          </a:p>
        </p:txBody>
      </p:sp>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IN" spc="-25" dirty="0"/>
              <a:t>25</a:t>
            </a: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934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0" y="-18836"/>
            <a:ext cx="6019800" cy="2517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College Bus Tracking System Using Hybrid GPS and AI Chatbot</a:t>
            </a:r>
            <a:endParaRPr lang="en-US"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IN" spc="-25" dirty="0"/>
              <a:t>25</a:t>
            </a:r>
            <a:endParaRPr spc="-25" dirty="0"/>
          </a:p>
        </p:txBody>
      </p:sp>
      <p:sp>
        <p:nvSpPr>
          <p:cNvPr id="10" name="object 10"/>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7" name="object 7"/>
          <p:cNvSpPr txBox="1"/>
          <p:nvPr/>
        </p:nvSpPr>
        <p:spPr>
          <a:xfrm>
            <a:off x="287518" y="1147706"/>
            <a:ext cx="11630025" cy="4426789"/>
          </a:xfrm>
          <a:prstGeom prst="rect">
            <a:avLst/>
          </a:prstGeom>
        </p:spPr>
        <p:txBody>
          <a:bodyPr vert="horz" wrap="square" lIns="0" tIns="60960" rIns="0" bIns="0" rtlCol="0">
            <a:spAutoFit/>
          </a:bodyPr>
          <a:lstStyle/>
          <a:p>
            <a:pPr>
              <a:lnSpc>
                <a:spcPct val="150000"/>
              </a:lnSpc>
            </a:pPr>
            <a:r>
              <a:rPr lang="en-IN" sz="2400" b="1" dirty="0">
                <a:latin typeface="Times New Roman" panose="02020603050405020304" pitchFamily="18" charset="0"/>
                <a:cs typeface="Times New Roman" panose="02020603050405020304" pitchFamily="18" charset="0"/>
              </a:rPr>
              <a:t>[1]  </a:t>
            </a:r>
            <a:r>
              <a:rPr lang="en-US" sz="2400" b="1" dirty="0"/>
              <a:t>Liu Minghao (2023)</a:t>
            </a:r>
            <a:r>
              <a:rPr lang="en-US" sz="2400" dirty="0"/>
              <a:t> developed a real-time bus tracking system using mobile GPS; however, the system did not include route alerts or student-specific notifications.</a:t>
            </a:r>
          </a:p>
          <a:p>
            <a:pPr>
              <a:lnSpc>
                <a:spcPct val="150000"/>
              </a:lnSpc>
            </a:pPr>
            <a:r>
              <a:rPr lang="en-IN" sz="2400" b="1" dirty="0">
                <a:latin typeface="Times New Roman" panose="02020603050405020304" pitchFamily="18" charset="0"/>
                <a:cs typeface="Times New Roman" panose="02020603050405020304" pitchFamily="18" charset="0"/>
              </a:rPr>
              <a:t>[2] </a:t>
            </a:r>
            <a:r>
              <a:rPr lang="en-US" sz="2400" b="1" dirty="0"/>
              <a:t>Rao et al. (2022)</a:t>
            </a:r>
            <a:r>
              <a:rPr lang="en-US" sz="2400" dirty="0"/>
              <a:t> implemented a GPS-based school bus monitoring system; however, it required expensive dedicated tracking hardware, making it less suitable for cost-sensitive institutions.</a:t>
            </a:r>
          </a:p>
          <a:p>
            <a:pPr>
              <a:lnSpc>
                <a:spcPct val="150000"/>
              </a:lnSpc>
            </a:pPr>
            <a:r>
              <a:rPr lang="en-IN" sz="2400" b="1" dirty="0">
                <a:latin typeface="Times New Roman" panose="02020603050405020304" pitchFamily="18" charset="0"/>
                <a:cs typeface="Times New Roman" panose="02020603050405020304" pitchFamily="18" charset="0"/>
              </a:rPr>
              <a:t>[3] </a:t>
            </a:r>
            <a:r>
              <a:rPr lang="en-US" sz="2400" b="1" dirty="0"/>
              <a:t>Singh &amp; Patel (2021)</a:t>
            </a:r>
            <a:r>
              <a:rPr lang="en-US" sz="2400" dirty="0"/>
              <a:t> used a mobile phone for location tracking, but the system lacked key features such as estimated arrival time (ETA) prediction and personalized student notification alerts.</a:t>
            </a:r>
            <a:endParaRPr sz="28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12192000" cy="243656"/>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2971800" y="-39166"/>
            <a:ext cx="64770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College Bus Tracking System Using Hybrid GPS and AI Chatbot</a:t>
            </a:r>
            <a:endParaRPr lang="en-US" sz="1500" dirty="0">
              <a:latin typeface="Times New Roman"/>
              <a:cs typeface="Times New Roman"/>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2"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IN" spc="-25" dirty="0"/>
              <a:t>25</a:t>
            </a:r>
            <a:endParaRPr spc="-25" dirty="0"/>
          </a:p>
        </p:txBody>
      </p:sp>
      <p:sp>
        <p:nvSpPr>
          <p:cNvPr id="11" name="object 11"/>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9" name="object 9"/>
          <p:cNvSpPr txBox="1"/>
          <p:nvPr/>
        </p:nvSpPr>
        <p:spPr>
          <a:xfrm>
            <a:off x="596402" y="5987760"/>
            <a:ext cx="10147798"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pitchFamily="18" charset="0"/>
                <a:cs typeface="Times New Roman" panose="02020603050405020304" pitchFamily="18" charset="0"/>
              </a:rPr>
              <a:t>link</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10" dirty="0">
                <a:latin typeface="Times New Roman" panose="02020603050405020304" pitchFamily="18" charset="0"/>
                <a:cs typeface="Times New Roman" panose="02020603050405020304" pitchFamily="18" charset="0"/>
              </a:rPr>
              <a:t> </a:t>
            </a:r>
            <a:r>
              <a:rPr sz="1800" spc="-10" dirty="0" err="1">
                <a:latin typeface="Times New Roman" panose="02020603050405020304" pitchFamily="18" charset="0"/>
                <a:cs typeface="Times New Roman" panose="02020603050405020304" pitchFamily="18" charset="0"/>
              </a:rPr>
              <a:t>Github</a:t>
            </a:r>
            <a:r>
              <a:rPr lang="en-IN" sz="1800" spc="-10" dirty="0">
                <a:latin typeface="Times New Roman" panose="02020603050405020304" pitchFamily="18" charset="0"/>
                <a:cs typeface="Times New Roman" panose="02020603050405020304" pitchFamily="18" charset="0"/>
              </a:rPr>
              <a:t> : https://github.com/Arunkumar6302/TrackMyBus-Major-Project</a:t>
            </a:r>
            <a:endParaRPr sz="18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BC77496D-8011-2E71-A4AF-4D414F847603}"/>
              </a:ext>
            </a:extLst>
          </p:cNvPr>
          <p:cNvPicPr>
            <a:picLocks noChangeAspect="1"/>
          </p:cNvPicPr>
          <p:nvPr/>
        </p:nvPicPr>
        <p:blipFill>
          <a:blip r:embed="rId3"/>
          <a:stretch>
            <a:fillRect/>
          </a:stretch>
        </p:blipFill>
        <p:spPr>
          <a:xfrm>
            <a:off x="1371600" y="993485"/>
            <a:ext cx="9144000" cy="49223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2971800" y="0"/>
            <a:ext cx="67818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College Bus Tracking System Using Hybrid GPS and AI Chatbot</a:t>
            </a:r>
            <a:endParaRPr lang="en-US" sz="1500" dirty="0">
              <a:latin typeface="Times New Roman"/>
              <a:cs typeface="Times New Roman"/>
            </a:endParaRP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IN" spc="-25" dirty="0"/>
              <a:t>25</a:t>
            </a:r>
            <a:endParaRPr spc="-25" dirty="0"/>
          </a:p>
        </p:txBody>
      </p:sp>
      <p:sp>
        <p:nvSpPr>
          <p:cNvPr id="6" name="object 6"/>
          <p:cNvSpPr txBox="1">
            <a:spLocks noGrp="1"/>
          </p:cNvSpPr>
          <p:nvPr>
            <p:ph type="dt" sz="half" idx="6"/>
          </p:nvPr>
        </p:nvSpPr>
        <p:spPr>
          <a:xfrm>
            <a:off x="1773948" y="6629559"/>
            <a:ext cx="4169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42824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241</TotalTime>
  <Words>1481</Words>
  <Application>Microsoft Office PowerPoint</Application>
  <PresentationFormat>Widescreen</PresentationFormat>
  <Paragraphs>130</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Smart College Bus Tracking System Using Hybrid GPS and AI Chatbot</vt:lpstr>
      <vt:lpstr>Contents</vt:lpstr>
      <vt:lpstr>Title Justification</vt:lpstr>
      <vt:lpstr> Abstract</vt:lpstr>
      <vt:lpstr>Problem Statement</vt:lpstr>
      <vt:lpstr>Objectives of Project</vt:lpstr>
      <vt:lpstr>Smart College Bus Tracking System Using Hybrid GPS and AI Chatbot</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Naveen</dc:creator>
  <cp:lastModifiedBy>Arun Kumar</cp:lastModifiedBy>
  <cp:revision>10</cp:revision>
  <dcterms:created xsi:type="dcterms:W3CDTF">2025-12-02T11:29:58Z</dcterms:created>
  <dcterms:modified xsi:type="dcterms:W3CDTF">2025-12-19T05:52:38Z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2025-12-02T00:00:00Z</vt:filetime>
  </property>
  <property fmtid="{D5CDD505-2E9C-101B-9397-08002B2CF9AE}" pid="3" name="Creator">
    <vt:lpwstr>Google</vt:lpwstr>
  </property>
  <property fmtid="{D5CDD505-2E9C-101B-9397-08002B2CF9AE}" pid="4" name="LastSaved">
    <vt:filetime>2025-12-02T00:00:00Z</vt:filetime>
  </property>
</Properties>
</file>